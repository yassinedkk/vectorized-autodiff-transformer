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A0C70C-F6EE-43B9-AB1D-ECCF95AC3D12}" type="datetimeFigureOut">
              <a:rPr lang="fr-FR" smtClean="0"/>
              <a:t>07/12/2025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E7F856-10DD-4301-880A-5D3D637F2A9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66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Part 1 – </a:t>
            </a:r>
            <a:r>
              <a:rPr dirty="0" err="1"/>
              <a:t>Différenciation</a:t>
            </a:r>
            <a:r>
              <a:rPr dirty="0"/>
              <a:t> </a:t>
            </a:r>
            <a:r>
              <a:rPr dirty="0" err="1"/>
              <a:t>Automatique</a:t>
            </a:r>
            <a:r>
              <a:rPr dirty="0"/>
              <a:t> </a:t>
            </a:r>
            <a:r>
              <a:rPr dirty="0" err="1"/>
              <a:t>Vectorisée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 Algorithm in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de la Partie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</a:t>
            </a:r>
            <a:r>
              <a:rPr dirty="0" err="1"/>
              <a:t>Implémenter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version </a:t>
            </a:r>
            <a:r>
              <a:rPr dirty="0" err="1"/>
              <a:t>vectorisée</a:t>
            </a:r>
            <a:r>
              <a:rPr dirty="0"/>
              <a:t> de la </a:t>
            </a:r>
            <a:r>
              <a:rPr dirty="0" err="1"/>
              <a:t>différenciation</a:t>
            </a:r>
            <a:r>
              <a:rPr dirty="0"/>
              <a:t> </a:t>
            </a:r>
            <a:r>
              <a:rPr dirty="0" err="1"/>
              <a:t>automatique</a:t>
            </a:r>
            <a:r>
              <a:rPr dirty="0"/>
              <a:t> (AD).</a:t>
            </a:r>
          </a:p>
          <a:p>
            <a:r>
              <a:rPr dirty="0"/>
              <a:t>• Supporter des </a:t>
            </a:r>
            <a:r>
              <a:rPr dirty="0" err="1"/>
              <a:t>nœuds</a:t>
            </a:r>
            <a:r>
              <a:rPr dirty="0"/>
              <a:t> </a:t>
            </a:r>
            <a:r>
              <a:rPr dirty="0" err="1"/>
              <a:t>contenant</a:t>
            </a:r>
            <a:r>
              <a:rPr dirty="0"/>
              <a:t> des </a:t>
            </a:r>
            <a:r>
              <a:rPr dirty="0" err="1"/>
              <a:t>vecteurs</a:t>
            </a:r>
            <a:r>
              <a:rPr dirty="0"/>
              <a:t>/matrices, pas </a:t>
            </a:r>
            <a:r>
              <a:rPr dirty="0" err="1"/>
              <a:t>seulement</a:t>
            </a:r>
            <a:r>
              <a:rPr dirty="0"/>
              <a:t> des </a:t>
            </a:r>
            <a:r>
              <a:rPr dirty="0" err="1"/>
              <a:t>scalaires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Reproduire</a:t>
            </a:r>
            <a:r>
              <a:rPr dirty="0"/>
              <a:t> les gradients de Forward Mode (</a:t>
            </a:r>
            <a:r>
              <a:rPr dirty="0" err="1"/>
              <a:t>LabAD</a:t>
            </a:r>
            <a:r>
              <a:rPr dirty="0"/>
              <a:t>) avec Reverse Mode </a:t>
            </a:r>
            <a:r>
              <a:rPr dirty="0" err="1"/>
              <a:t>vectorisé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Pourquoi une AD vectorisée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Les </a:t>
            </a:r>
            <a:r>
              <a:rPr dirty="0" err="1"/>
              <a:t>modèles</a:t>
            </a:r>
            <a:r>
              <a:rPr dirty="0"/>
              <a:t>  </a:t>
            </a:r>
            <a:r>
              <a:rPr dirty="0" err="1"/>
              <a:t>manipulent</a:t>
            </a:r>
            <a:r>
              <a:rPr dirty="0"/>
              <a:t> des matrices (</a:t>
            </a:r>
            <a:r>
              <a:rPr dirty="0" err="1"/>
              <a:t>poids</a:t>
            </a:r>
            <a:r>
              <a:rPr dirty="0"/>
              <a:t>, activations).</a:t>
            </a:r>
            <a:endParaRPr lang="fr-FR" dirty="0"/>
          </a:p>
          <a:p>
            <a:endParaRPr dirty="0"/>
          </a:p>
          <a:p>
            <a:r>
              <a:rPr dirty="0"/>
              <a:t>• L’AD </a:t>
            </a:r>
            <a:r>
              <a:rPr dirty="0" err="1"/>
              <a:t>classique</a:t>
            </a:r>
            <a:r>
              <a:rPr dirty="0"/>
              <a:t> </a:t>
            </a:r>
            <a:r>
              <a:rPr dirty="0" err="1"/>
              <a:t>crée</a:t>
            </a:r>
            <a:r>
              <a:rPr dirty="0"/>
              <a:t> un </a:t>
            </a:r>
            <a:r>
              <a:rPr dirty="0" err="1"/>
              <a:t>nœud</a:t>
            </a:r>
            <a:r>
              <a:rPr dirty="0"/>
              <a:t> par </a:t>
            </a:r>
            <a:r>
              <a:rPr dirty="0" err="1"/>
              <a:t>scalaire</a:t>
            </a:r>
            <a:r>
              <a:rPr dirty="0"/>
              <a:t> → </a:t>
            </a:r>
            <a:r>
              <a:rPr dirty="0" err="1"/>
              <a:t>inefficace</a:t>
            </a:r>
            <a:r>
              <a:rPr dirty="0"/>
              <a:t>.</a:t>
            </a:r>
            <a:endParaRPr lang="fr-FR" dirty="0"/>
          </a:p>
          <a:p>
            <a:endParaRPr dirty="0"/>
          </a:p>
          <a:p>
            <a:r>
              <a:rPr dirty="0"/>
              <a:t>• AD </a:t>
            </a:r>
            <a:r>
              <a:rPr dirty="0" err="1"/>
              <a:t>vectorisée</a:t>
            </a:r>
            <a:r>
              <a:rPr dirty="0"/>
              <a:t> : un </a:t>
            </a:r>
            <a:r>
              <a:rPr dirty="0" err="1"/>
              <a:t>nœud</a:t>
            </a:r>
            <a:r>
              <a:rPr dirty="0"/>
              <a:t> = un </a:t>
            </a:r>
            <a:r>
              <a:rPr dirty="0" err="1"/>
              <a:t>tenseur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 fondamentale : VectNode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 err="1"/>
              <a:t>Chaque</a:t>
            </a:r>
            <a:r>
              <a:rPr dirty="0"/>
              <a:t> </a:t>
            </a:r>
            <a:r>
              <a:rPr dirty="0" err="1"/>
              <a:t>VectNode</a:t>
            </a:r>
            <a:r>
              <a:rPr dirty="0"/>
              <a:t> </a:t>
            </a:r>
            <a:r>
              <a:rPr dirty="0" err="1"/>
              <a:t>contient</a:t>
            </a:r>
            <a:r>
              <a:rPr dirty="0"/>
              <a:t> :</a:t>
            </a:r>
          </a:p>
          <a:p>
            <a:r>
              <a:rPr dirty="0"/>
              <a:t>• value : </a:t>
            </a:r>
            <a:r>
              <a:rPr dirty="0" err="1"/>
              <a:t>scalaire</a:t>
            </a:r>
            <a:r>
              <a:rPr dirty="0"/>
              <a:t>, </a:t>
            </a:r>
            <a:r>
              <a:rPr dirty="0" err="1"/>
              <a:t>vecteur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matrice</a:t>
            </a:r>
            <a:endParaRPr dirty="0"/>
          </a:p>
          <a:p>
            <a:r>
              <a:rPr dirty="0"/>
              <a:t>• op : </a:t>
            </a:r>
            <a:r>
              <a:rPr dirty="0" err="1"/>
              <a:t>symbole</a:t>
            </a:r>
            <a:r>
              <a:rPr dirty="0"/>
              <a:t> de </a:t>
            </a:r>
            <a:r>
              <a:rPr dirty="0" err="1"/>
              <a:t>l’opération</a:t>
            </a:r>
            <a:endParaRPr dirty="0"/>
          </a:p>
          <a:p>
            <a:r>
              <a:rPr dirty="0"/>
              <a:t>• </a:t>
            </a:r>
            <a:r>
              <a:rPr dirty="0" err="1"/>
              <a:t>args</a:t>
            </a:r>
            <a:r>
              <a:rPr dirty="0"/>
              <a:t> : </a:t>
            </a:r>
            <a:r>
              <a:rPr dirty="0" err="1"/>
              <a:t>liste</a:t>
            </a:r>
            <a:r>
              <a:rPr dirty="0"/>
              <a:t> des </a:t>
            </a:r>
            <a:r>
              <a:rPr dirty="0" err="1"/>
              <a:t>nœuds</a:t>
            </a:r>
            <a:r>
              <a:rPr dirty="0"/>
              <a:t> enfants</a:t>
            </a:r>
          </a:p>
          <a:p>
            <a:r>
              <a:rPr dirty="0"/>
              <a:t>• derivative : ∂L/∂value</a:t>
            </a:r>
          </a:p>
          <a:p>
            <a:r>
              <a:rPr dirty="0"/>
              <a:t>• tangent (pour Hv) : </a:t>
            </a:r>
            <a:r>
              <a:rPr dirty="0" err="1"/>
              <a:t>dérivée</a:t>
            </a:r>
            <a:r>
              <a:rPr dirty="0"/>
              <a:t> </a:t>
            </a:r>
            <a:r>
              <a:rPr dirty="0" err="1"/>
              <a:t>directionnelle</a:t>
            </a:r>
            <a:endParaRPr dirty="0"/>
          </a:p>
          <a:p>
            <a:r>
              <a:rPr dirty="0"/>
              <a:t>• params : </a:t>
            </a:r>
            <a:r>
              <a:rPr lang="fr-FR" dirty="0"/>
              <a:t>un dictionnaire pour stocker les</a:t>
            </a:r>
            <a:r>
              <a:rPr dirty="0"/>
              <a:t> (dim</a:t>
            </a:r>
            <a:r>
              <a:rPr lang="fr-FR" dirty="0" err="1"/>
              <a:t>ension</a:t>
            </a:r>
            <a:r>
              <a:rPr lang="fr-FR" dirty="0"/>
              <a:t>)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Broadcasting vectorisé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Support </a:t>
            </a:r>
            <a:r>
              <a:rPr dirty="0" err="1"/>
              <a:t>explicite</a:t>
            </a:r>
            <a:r>
              <a:rPr dirty="0"/>
              <a:t> de x .+ y, x .* y, </a:t>
            </a:r>
            <a:r>
              <a:rPr dirty="0" err="1"/>
              <a:t>relu</a:t>
            </a:r>
            <a:r>
              <a:rPr dirty="0"/>
              <a:t>.(x)...</a:t>
            </a:r>
          </a:p>
          <a:p>
            <a:r>
              <a:rPr dirty="0"/>
              <a:t>• </a:t>
            </a:r>
            <a:r>
              <a:rPr dirty="0" err="1"/>
              <a:t>L'opération</a:t>
            </a:r>
            <a:r>
              <a:rPr dirty="0"/>
              <a:t> </a:t>
            </a:r>
            <a:r>
              <a:rPr dirty="0" err="1"/>
              <a:t>détermine</a:t>
            </a:r>
            <a:r>
              <a:rPr dirty="0"/>
              <a:t> le type : +, </a:t>
            </a:r>
            <a:r>
              <a:rPr dirty="0" err="1"/>
              <a:t>hadamard</a:t>
            </a:r>
            <a:r>
              <a:rPr dirty="0"/>
              <a:t>, exp, log…</a:t>
            </a:r>
          </a:p>
          <a:p>
            <a:r>
              <a:rPr dirty="0"/>
              <a:t>• Les gradients </a:t>
            </a:r>
            <a:r>
              <a:rPr dirty="0" err="1"/>
              <a:t>doivent</a:t>
            </a:r>
            <a:r>
              <a:rPr dirty="0"/>
              <a:t> </a:t>
            </a:r>
            <a:r>
              <a:rPr dirty="0" err="1"/>
              <a:t>gérer</a:t>
            </a:r>
            <a:r>
              <a:rPr dirty="0"/>
              <a:t> le broadcasting inverse:</a:t>
            </a:r>
          </a:p>
          <a:p>
            <a:r>
              <a:rPr dirty="0"/>
              <a:t>  – </a:t>
            </a:r>
            <a:r>
              <a:rPr dirty="0" err="1"/>
              <a:t>réduction</a:t>
            </a:r>
            <a:r>
              <a:rPr dirty="0"/>
              <a:t> des dimensions</a:t>
            </a:r>
          </a:p>
          <a:p>
            <a:r>
              <a:rPr dirty="0"/>
              <a:t>  – </a:t>
            </a:r>
            <a:r>
              <a:rPr dirty="0" err="1"/>
              <a:t>sommation</a:t>
            </a:r>
            <a:r>
              <a:rPr dirty="0"/>
              <a:t> le long des axes </a:t>
            </a:r>
            <a:r>
              <a:rPr dirty="0" err="1"/>
              <a:t>broadcastés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Backward Pass vectorisé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Calcul selon un topo-sort (du output vers les inputs).</a:t>
            </a:r>
          </a:p>
          <a:p>
            <a:r>
              <a:t>• Chaque opération connaît sa règle de dérivation vectorisée.</a:t>
            </a:r>
          </a:p>
          <a:p>
            <a:r>
              <a:t>• Exemples :</a:t>
            </a:r>
          </a:p>
          <a:p>
            <a:r>
              <a:t>  – MatMul: dL/dX += dL/dZ * Yᵀ</a:t>
            </a:r>
          </a:p>
          <a:p>
            <a:r>
              <a:t>  – Hadamard: dL/dX += G .* Y</a:t>
            </a:r>
          </a:p>
          <a:p>
            <a:r>
              <a:t>  – Broadcast: réduction automatique des axes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Exemple</a:t>
            </a:r>
            <a:r>
              <a:rPr dirty="0"/>
              <a:t> 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Forward :</a:t>
            </a:r>
          </a:p>
          <a:p>
            <a:r>
              <a:rPr dirty="0"/>
              <a:t>    z = x .* x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Backward :</a:t>
            </a:r>
          </a:p>
          <a:p>
            <a:r>
              <a:rPr dirty="0"/>
              <a:t>    dL/</a:t>
            </a:r>
            <a:r>
              <a:rPr dirty="0" err="1"/>
              <a:t>dz</a:t>
            </a:r>
            <a:r>
              <a:rPr dirty="0"/>
              <a:t> = 1</a:t>
            </a:r>
          </a:p>
          <a:p>
            <a:r>
              <a:rPr dirty="0"/>
              <a:t>    dL/dx = 2 .* x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3D09-6211-663A-27A7-BAEE79C3B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Tests &amp; Benchmarks – Part 1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4191A-CF1D-3AB3-2349-384C803E5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fr-FR" dirty="0"/>
              <a:t>On génère automatiquement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un </a:t>
            </a:r>
            <a:r>
              <a:rPr lang="fr-FR" dirty="0" err="1"/>
              <a:t>dataset</a:t>
            </a:r>
            <a:r>
              <a:rPr lang="fr-FR" dirty="0"/>
              <a:t> </a:t>
            </a:r>
            <a:r>
              <a:rPr lang="fr-FR" b="1" dirty="0"/>
              <a:t>X</a:t>
            </a:r>
            <a:r>
              <a:rPr lang="fr-FR" dirty="0"/>
              <a:t> de taille </a:t>
            </a:r>
            <a:r>
              <a:rPr lang="fr-FR" i="1" dirty="0"/>
              <a:t>(n × d)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une cible </a:t>
            </a:r>
            <a:r>
              <a:rPr lang="fr-FR" b="1" dirty="0"/>
              <a:t>y</a:t>
            </a:r>
            <a:r>
              <a:rPr lang="fr-FR" dirty="0"/>
              <a:t> (régression ou classification)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un réseau </a:t>
            </a:r>
            <a:r>
              <a:rPr lang="fr-FR" dirty="0" err="1"/>
              <a:t>fully-connected</a:t>
            </a:r>
            <a:r>
              <a:rPr lang="fr-FR" dirty="0"/>
              <a:t> à </a:t>
            </a:r>
            <a:r>
              <a:rPr lang="fr-FR" b="1" dirty="0"/>
              <a:t>une couche cachée de taille h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des poids aléatoires </a:t>
            </a:r>
            <a:r>
              <a:rPr lang="fr-FR" b="1" dirty="0"/>
              <a:t>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Définition de la </a:t>
            </a:r>
            <a:r>
              <a:rPr lang="fr-FR" dirty="0" err="1"/>
              <a:t>loss</a:t>
            </a:r>
            <a:r>
              <a:rPr lang="fr-FR" dirty="0"/>
              <a:t> L(w)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76031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BC11B-F516-0CF9-7D57-D73281B9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Resultats</a:t>
            </a:r>
            <a:endParaRPr lang="fr-FR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1A2D68C-4DAC-9BED-7E02-FB9CB274ED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2321945"/>
              </p:ext>
            </p:extLst>
          </p:nvPr>
        </p:nvGraphicFramePr>
        <p:xfrm>
          <a:off x="457200" y="2354421"/>
          <a:ext cx="5486400" cy="288160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4097233999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309470627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20227878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461494361"/>
                    </a:ext>
                  </a:extLst>
                </a:gridCol>
              </a:tblGrid>
              <a:tr h="96053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072406"/>
                  </a:ext>
                </a:extLst>
              </a:tr>
              <a:tr h="96053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523578"/>
                  </a:ext>
                </a:extLst>
              </a:tr>
              <a:tr h="96053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7565460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3A55D75-B339-1851-FFE8-A72BF4383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68" y="1704195"/>
            <a:ext cx="7802064" cy="41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469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FA7FA-B319-2AE3-320C-712596A69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77609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Part 2 – Hessian &amp; Forward-over-Reverse AD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69883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B362C-4980-B2A4-C7ED-05B574B94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Approche </a:t>
            </a:r>
            <a:r>
              <a:rPr lang="fr-FR" dirty="0" err="1"/>
              <a:t>Forward</a:t>
            </a:r>
            <a:r>
              <a:rPr lang="fr-FR" dirty="0"/>
              <a:t>-over-Reverse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191D7F-E0C3-D4B8-D530-1B42EF8D66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endParaRPr lang="fr-FR" dirty="0"/>
              </a:p>
              <a:p>
                <a:r>
                  <a:rPr lang="fr-FR" dirty="0"/>
                  <a:t>Étape 1 : Construire le graphe &amp; calculer le gradient:</a:t>
                </a:r>
              </a:p>
              <a:p>
                <a14:m>
                  <m:oMath xmlns:m="http://schemas.openxmlformats.org/officeDocument/2006/math">
                    <m:limUpp>
                      <m:limUppPr>
                        <m:ctrlPr>
                          <a:rPr lang="ar-SA" i="1" smtClean="0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ar-SA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lim>
                        <m:r>
                          <a:rPr lang="fr-FR" b="0" i="0" smtClean="0">
                            <a:latin typeface="Cambria Math" panose="02040503050406030204" pitchFamily="18" charset="0"/>
                          </a:rPr>
                          <m:t>_</m:t>
                        </m:r>
                      </m:lim>
                    </m:limUpp>
                  </m:oMath>
                </a14:m>
                <a:r>
                  <a:rPr lang="ar-SA" dirty="0"/>
                  <a:t>= </a:t>
                </a:r>
                <a:r>
                  <a:rPr lang="fr-FR" b="1" dirty="0"/>
                  <a:t>adjoint</a:t>
                </a:r>
                <a:r>
                  <a:rPr lang="fr-FR" dirty="0"/>
                  <a:t> du nœud</a:t>
                </a:r>
                <a:br>
                  <a:rPr lang="fr-FR" dirty="0"/>
                </a:br>
                <a:endParaRPr lang="fr-FR" dirty="0"/>
              </a:p>
              <a:p>
                <a:r>
                  <a:rPr lang="fr-FR" dirty="0"/>
                  <a:t>Étape 2 :</a:t>
                </a:r>
                <a:r>
                  <a:rPr lang="fr-FR" dirty="0" err="1"/>
                  <a:t>Forward</a:t>
                </a:r>
                <a:r>
                  <a:rPr lang="fr-FR" dirty="0"/>
                  <a:t> : propager les tangentes de valeur (JVP):</a:t>
                </a:r>
              </a:p>
              <a:p>
                <a:r>
                  <a:rPr lang="fr-FR" dirty="0"/>
                  <a:t>On veut savoir </a:t>
                </a:r>
                <a:r>
                  <a:rPr lang="fr-FR" b="1" dirty="0"/>
                  <a:t>comment toutes les valeurs internes</a:t>
                </a:r>
                <a:r>
                  <a:rPr lang="fr-FR" dirty="0"/>
                  <a:t> changent si on bouge </a:t>
                </a:r>
                <a14:m>
                  <m:oMath xmlns:m="http://schemas.openxmlformats.org/officeDocument/2006/math">
                    <m:r>
                      <a:rPr lang="fr-FR" i="1"/>
                      <m:t>𝑥</m:t>
                    </m:r>
                  </m:oMath>
                </a14:m>
                <a:r>
                  <a:rPr lang="fr-FR" dirty="0"/>
                  <a:t>dans la direction </a:t>
                </a:r>
                <a14:m>
                  <m:oMath xmlns:m="http://schemas.openxmlformats.org/officeDocument/2006/math">
                    <m:r>
                      <a:rPr lang="fr-FR" i="1"/>
                      <m:t>𝑣</m:t>
                    </m:r>
                  </m:oMath>
                </a14:m>
                <a:endParaRPr lang="fr-FR" dirty="0"/>
              </a:p>
              <a:p>
                <a:endParaRPr lang="fr-FR" dirty="0"/>
              </a:p>
              <a:p>
                <a:r>
                  <a:rPr lang="fr-FR" dirty="0"/>
                  <a:t>z˙ = tangente de la valeur</a:t>
                </a:r>
              </a:p>
              <a:p>
                <a:br>
                  <a:rPr lang="fr-FR" dirty="0"/>
                </a:br>
                <a:endParaRPr lang="fr-FR" dirty="0"/>
              </a:p>
              <a:p>
                <a:endParaRPr lang="fr-FR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191D7F-E0C3-D4B8-D530-1B42EF8D66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3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32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F9FDC-1856-AA38-56F4-E9CD50F6E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Propagation des tangentes de valeur</a:t>
            </a:r>
            <a:br>
              <a:rPr lang="fr-FR" dirty="0"/>
            </a:br>
            <a:r>
              <a:rPr lang="fr-FR" dirty="0"/>
              <a:t>dans le graphe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47A051-62BE-3850-694B-26B90612B3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fr-FR" dirty="0"/>
                  <a:t>Pour chaque nœud dans l’ordre topologique :</a:t>
                </a:r>
              </a:p>
              <a:p>
                <a:r>
                  <a:rPr lang="fr-FR" dirty="0"/>
                  <a:t>Pour « + »:</a:t>
                </a:r>
              </a:p>
              <a:p>
                <a:r>
                  <a:rPr lang="fr-FR" dirty="0"/>
                  <a:t>z=</a:t>
                </a:r>
                <a:r>
                  <a:rPr lang="fr-FR" dirty="0" err="1"/>
                  <a:t>x+y</a:t>
                </a:r>
                <a:endParaRPr lang="fr-FR" dirty="0"/>
              </a:p>
              <a:p>
                <a:r>
                  <a:rPr lang="fr-FR" dirty="0"/>
                  <a:t>z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ar-SA" i="1"/>
                      <m:t>˙</m:t>
                    </m:r>
                    <m:r>
                      <a:rPr lang="ar-SA">
                        <a:latin typeface="Cambria Math" panose="02040503050406030204" pitchFamily="18" charset="0"/>
                      </a:rPr>
                      <m:t>=</m:t>
                    </m:r>
                    <m:r>
                      <a:rPr lang="ar-SA" i="1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nor/>
                      </m:rPr>
                      <a:rPr lang="ar-SA" i="1"/>
                      <m:t>˙</m:t>
                    </m:r>
                    <m:r>
                      <a:rPr lang="ar-SA">
                        <a:latin typeface="Cambria Math" panose="02040503050406030204" pitchFamily="18" charset="0"/>
                      </a:rPr>
                      <m:t>+</m:t>
                    </m:r>
                    <m:r>
                      <a:rPr lang="ar-SA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nor/>
                      </m:rPr>
                      <a:rPr lang="ar-SA" i="1"/>
                      <m:t>˙</m:t>
                    </m:r>
                  </m:oMath>
                </a14:m>
                <a:endParaRPr lang="fr-FR" dirty="0"/>
              </a:p>
              <a:p>
                <a:endParaRPr lang="fr-FR" dirty="0"/>
              </a:p>
              <a:p>
                <a:r>
                  <a:rPr lang="fr-FR" dirty="0"/>
                  <a:t>Pour « * »:</a:t>
                </a:r>
              </a:p>
              <a:p>
                <a:endParaRPr lang="fr-FR" dirty="0"/>
              </a:p>
              <a:p>
                <a:r>
                  <a:rPr lang="fr-FR" dirty="0"/>
                  <a:t>règle du produit 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SA"/>
                        </m:ctrlPr>
                      </m:dPr>
                      <m:e>
                        <m:r>
                          <a:rPr lang="ar-SA" i="1"/>
                          <m:t>𝑥𝑦</m:t>
                        </m:r>
                      </m:e>
                    </m:d>
                    <m:r>
                      <m:rPr>
                        <m:nor/>
                      </m:rPr>
                      <a:rPr lang="ar-SA" i="1"/>
                      <m:t>˙</m:t>
                    </m:r>
                    <m:r>
                      <a:rPr lang="ar-SA"/>
                      <m:t>=</m:t>
                    </m:r>
                    <m:r>
                      <a:rPr lang="ar-SA" i="1"/>
                      <m:t>𝑥</m:t>
                    </m:r>
                    <m:r>
                      <m:rPr>
                        <m:nor/>
                      </m:rPr>
                      <a:rPr lang="ar-SA" i="1"/>
                      <m:t>˙</m:t>
                    </m:r>
                    <m:r>
                      <a:rPr lang="ar-SA" i="1"/>
                      <m:t>𝑦</m:t>
                    </m:r>
                    <m:r>
                      <a:rPr lang="ar-SA"/>
                      <m:t>+</m:t>
                    </m:r>
                    <m:r>
                      <a:rPr lang="ar-SA" i="1"/>
                      <m:t>𝑥𝑦</m:t>
                    </m:r>
                    <m:r>
                      <m:rPr>
                        <m:nor/>
                      </m:rPr>
                      <a:rPr lang="ar-SA" i="1"/>
                      <m:t>˙</m:t>
                    </m:r>
                  </m:oMath>
                </a14:m>
                <a:endParaRPr lang="fr-FR" dirty="0"/>
              </a:p>
              <a:p>
                <a:endParaRPr lang="fr-FR" dirty="0"/>
              </a:p>
              <a:p>
                <a:r>
                  <a:rPr lang="fr-FR" dirty="0"/>
                  <a:t>Pour «  /»:</a:t>
                </a:r>
              </a:p>
              <a:p>
                <a:endParaRPr lang="fr-FR" dirty="0"/>
              </a:p>
              <a:p>
                <a:endParaRPr lang="fr-FR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47A051-62BE-3850-694B-26B90612B3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  <a:blipFill>
                <a:blip r:embed="rId2"/>
                <a:stretch>
                  <a:fillRect l="-1481" t="-232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3E46BBD3-876B-C3B8-244B-2F0950645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209" y="6205751"/>
            <a:ext cx="2381582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372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70FEA-361B-B59E-EF46-A662C9970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695676"/>
          </a:xfrm>
        </p:spPr>
        <p:txBody>
          <a:bodyPr>
            <a:normAutofit fontScale="90000"/>
          </a:bodyPr>
          <a:lstStyle/>
          <a:p>
            <a:r>
              <a:rPr lang="fr-FR" dirty="0"/>
              <a:t>Etape 3 :Reverse sur la linéarisation : calcul de H * v</a:t>
            </a:r>
            <a:br>
              <a:rPr lang="fr-FR" dirty="0"/>
            </a:br>
            <a:r>
              <a:rPr lang="fr-FR" dirty="0"/>
              <a:t>(le produit hessien vecteur)</a:t>
            </a:r>
            <a:br>
              <a:rPr lang="fr-FR" dirty="0"/>
            </a:br>
            <a:endParaRPr lang="fr-F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0946C0-4258-C7D5-9CF8-C1C6670109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970314"/>
                <a:ext cx="8229600" cy="4702629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fr-FR" b="1" dirty="0"/>
                  <a:t>Backward classique</a:t>
                </a:r>
                <a:br>
                  <a:rPr lang="fr-FR" dirty="0"/>
                </a:br>
                <a:r>
                  <a:rPr lang="fr-FR" dirty="0"/>
                  <a:t>Pour une opération </a:t>
                </a:r>
                <a14:m>
                  <m:oMath xmlns:m="http://schemas.openxmlformats.org/officeDocument/2006/math">
                    <m:r>
                      <a:rPr lang="fr-FR" i="1"/>
                      <m:t>𝑧</m:t>
                    </m:r>
                    <m:r>
                      <a:rPr lang="fr-FR"/>
                      <m:t>=</m:t>
                    </m:r>
                    <m:r>
                      <a:rPr lang="fr-FR" i="1"/>
                      <m:t>𝑜𝑝</m:t>
                    </m:r>
                    <m:d>
                      <m:dPr>
                        <m:sepChr m:val=","/>
                        <m:ctrlPr>
                          <a:rPr lang="ar-SA" i="1"/>
                        </m:ctrlPr>
                      </m:dPr>
                      <m:e>
                        <m:r>
                          <a:rPr lang="ar-SA" i="1"/>
                          <m:t>𝑥</m:t>
                        </m:r>
                      </m:e>
                      <m:e>
                        <m:r>
                          <a:rPr lang="ar-SA" i="1"/>
                          <m:t>𝑦</m:t>
                        </m:r>
                      </m:e>
                    </m:d>
                  </m:oMath>
                </a14:m>
                <a:r>
                  <a:rPr lang="ar-SA" dirty="0"/>
                  <a:t>, </a:t>
                </a:r>
                <a:r>
                  <a:rPr lang="fr-FR" dirty="0"/>
                  <a:t>on a des règles du type :</a:t>
                </a:r>
              </a:p>
              <a:p>
                <a14:m>
                  <m:oMath xmlns:m="http://schemas.openxmlformats.org/officeDocument/2006/math">
                    <m:limUpp>
                      <m:limUppPr>
                        <m:ctrlPr>
                          <a:rPr lang="ar-SA"/>
                        </m:ctrlPr>
                      </m:limUppPr>
                      <m:e>
                        <m:r>
                          <a:rPr lang="ar-SA" i="1"/>
                          <m:t>𝑥</m:t>
                        </m:r>
                      </m:e>
                      <m:lim>
                        <m:r>
                          <a:rPr lang="fr-FR" b="0" i="0" smtClean="0">
                            <a:latin typeface="Cambria Math" panose="02040503050406030204" pitchFamily="18" charset="0"/>
                          </a:rPr>
                          <m:t>_</m:t>
                        </m:r>
                      </m:lim>
                    </m:limUpp>
                    <m:r>
                      <a:rPr lang="ar-SA"/>
                      <m:t>+</m:t>
                    </m:r>
                    <m:r>
                      <a:rPr lang="fr-FR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SA" i="1"/>
                        </m:ctrlPr>
                      </m:sSubPr>
                      <m:e>
                        <m:r>
                          <a:rPr lang="ar-SA" i="1"/>
                          <m:t>𝑓</m:t>
                        </m:r>
                      </m:e>
                      <m:sub>
                        <m:r>
                          <a:rPr lang="ar-SA" i="1"/>
                          <m:t>𝑥</m:t>
                        </m:r>
                      </m:sub>
                    </m:sSub>
                    <m:d>
                      <m:dPr>
                        <m:sepChr m:val=","/>
                        <m:ctrlPr>
                          <a:rPr lang="ar-SA" i="1"/>
                        </m:ctrlPr>
                      </m:dPr>
                      <m:e>
                        <m:r>
                          <a:rPr lang="ar-SA" i="1"/>
                          <m:t>𝑥</m:t>
                        </m:r>
                      </m:e>
                      <m:e>
                        <m:r>
                          <a:rPr lang="ar-SA" i="1"/>
                          <m:t>𝑦</m:t>
                        </m:r>
                      </m:e>
                      <m:e>
                        <m:r>
                          <a:rPr lang="ar-SA" i="1"/>
                          <m:t>𝑧</m:t>
                        </m:r>
                      </m:e>
                      <m:e>
                        <m:limUpp>
                          <m:limUppPr>
                            <m:ctrlPr>
                              <a:rPr lang="ar-SA" i="1"/>
                            </m:ctrlPr>
                          </m:limUppPr>
                          <m:e>
                            <m:r>
                              <a:rPr lang="ar-SA" i="1"/>
                              <m:t>𝑧</m:t>
                            </m:r>
                          </m:e>
                          <m:lim>
                            <m:r>
                              <a:rPr lang="fr-FR" b="0" i="0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</m:lim>
                        </m:limUpp>
                      </m:e>
                    </m:d>
                  </m:oMath>
                </a14:m>
                <a:endParaRPr lang="ar-SA" dirty="0"/>
              </a:p>
              <a:p>
                <a14:m>
                  <m:oMath xmlns:m="http://schemas.openxmlformats.org/officeDocument/2006/math">
                    <m:limUpp>
                      <m:limUppPr>
                        <m:ctrlPr>
                          <a:rPr lang="ar-SA"/>
                        </m:ctrlPr>
                      </m:limUppPr>
                      <m:e>
                        <m:r>
                          <a:rPr lang="ar-SA" i="1"/>
                          <m:t>𝑦</m:t>
                        </m:r>
                      </m:e>
                      <m:lim>
                        <m:r>
                          <a:rPr lang="fr-FR" b="0" i="0" smtClean="0">
                            <a:latin typeface="Cambria Math" panose="02040503050406030204" pitchFamily="18" charset="0"/>
                          </a:rPr>
                          <m:t>_</m:t>
                        </m:r>
                      </m:lim>
                    </m:limUpp>
                    <m:r>
                      <a:rPr lang="ar-SA"/>
                      <m:t>+</m:t>
                    </m:r>
                    <m:r>
                      <a:rPr lang="fr-FR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SA" i="1"/>
                        </m:ctrlPr>
                      </m:sSubPr>
                      <m:e>
                        <m:r>
                          <a:rPr lang="ar-SA" i="1"/>
                          <m:t>𝑓</m:t>
                        </m:r>
                      </m:e>
                      <m:sub>
                        <m:r>
                          <a:rPr lang="ar-SA" i="1"/>
                          <m:t>𝑦</m:t>
                        </m:r>
                      </m:sub>
                    </m:sSub>
                    <m:d>
                      <m:dPr>
                        <m:sepChr m:val=","/>
                        <m:ctrlPr>
                          <a:rPr lang="ar-SA" i="1"/>
                        </m:ctrlPr>
                      </m:dPr>
                      <m:e>
                        <m:r>
                          <a:rPr lang="ar-SA" i="1"/>
                          <m:t>𝑥</m:t>
                        </m:r>
                      </m:e>
                      <m:e>
                        <m:r>
                          <a:rPr lang="ar-SA" i="1"/>
                          <m:t>𝑦</m:t>
                        </m:r>
                      </m:e>
                      <m:e>
                        <m:r>
                          <a:rPr lang="ar-SA" i="1"/>
                          <m:t>𝑧</m:t>
                        </m:r>
                      </m:e>
                      <m:e>
                        <m:limUpp>
                          <m:limUppPr>
                            <m:ctrlPr>
                              <a:rPr lang="ar-SA" i="1"/>
                            </m:ctrlPr>
                          </m:limUppPr>
                          <m:e>
                            <m:r>
                              <a:rPr lang="ar-SA" i="1"/>
                              <m:t>𝑧</m:t>
                            </m:r>
                          </m:e>
                          <m:lim>
                            <m:r>
                              <a:rPr lang="fr-FR" b="0" i="0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</m:lim>
                        </m:limUpp>
                      </m:e>
                    </m:d>
                  </m:oMath>
                </a14:m>
                <a:endParaRPr lang="fr-FR" dirty="0"/>
              </a:p>
              <a:p>
                <a:r>
                  <a:rPr lang="fr-FR" dirty="0"/>
                  <a:t>On veut dériver ces formules par rapport à </a:t>
                </a:r>
                <a14:m>
                  <m:oMath xmlns:m="http://schemas.openxmlformats.org/officeDocument/2006/math">
                    <m:r>
                      <a:rPr lang="fr-FR" i="1"/>
                      <m:t>𝑥</m:t>
                    </m:r>
                  </m:oMath>
                </a14:m>
                <a:r>
                  <a:rPr lang="fr-FR" dirty="0"/>
                  <a:t> le long de la direction </a:t>
                </a:r>
                <a14:m>
                  <m:oMath xmlns:m="http://schemas.openxmlformats.org/officeDocument/2006/math">
                    <m:r>
                      <a:rPr lang="fr-FR" i="1"/>
                      <m:t>𝑣</m:t>
                    </m:r>
                  </m:oMath>
                </a14:m>
                <a:r>
                  <a:rPr lang="fr-FR" dirty="0"/>
                  <a:t>.</a:t>
                </a:r>
              </a:p>
              <a:p>
                <a:r>
                  <a:rPr lang="fr-FR" dirty="0"/>
                  <a:t>On calcule :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ar-SA"/>
                        </m:ctrlPr>
                      </m:accPr>
                      <m:e>
                        <m:limUpp>
                          <m:limUppPr>
                            <m:ctrlPr>
                              <a:rPr lang="ar-SA"/>
                            </m:ctrlPr>
                          </m:limUppPr>
                          <m:e>
                            <m:r>
                              <a:rPr lang="ar-SA" i="1"/>
                              <m:t>𝑥</m:t>
                            </m:r>
                          </m:e>
                          <m:lim>
                            <m:r>
                              <a:rPr lang="fr-FR" b="0" i="0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</m:lim>
                        </m:limUpp>
                      </m:e>
                    </m:acc>
                    <m:r>
                      <a:rPr lang="ar-SA"/>
                      <m:t>=</m:t>
                    </m:r>
                    <m:sSub>
                      <m:sSubPr>
                        <m:ctrlPr>
                          <a:rPr lang="ar-SA" i="1"/>
                        </m:ctrlPr>
                      </m:sSubPr>
                      <m:e>
                        <m:d>
                          <m:dPr>
                            <m:begChr m:val=""/>
                            <m:endChr m:val="∣"/>
                            <m:ctrlPr>
                              <a:rPr lang="ar-SA" i="1"/>
                            </m:ctrlPr>
                          </m:dPr>
                          <m:e>
                            <m:f>
                              <m:fPr>
                                <m:ctrlPr>
                                  <a:rPr lang="ar-SA" i="1"/>
                                </m:ctrlPr>
                              </m:fPr>
                              <m:num>
                                <m:r>
                                  <a:rPr lang="ar-SA" i="1"/>
                                  <m:t>𝑑</m:t>
                                </m:r>
                              </m:num>
                              <m:den>
                                <m:r>
                                  <a:rPr lang="ar-SA" i="1"/>
                                  <m:t>𝑑</m:t>
                                </m:r>
                                <m:r>
                                  <a:rPr lang="ar-SA" i="1"/>
                                  <m:t>𝜖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ar-SA" i="1"/>
                          <m:t>𝜖</m:t>
                        </m:r>
                        <m:r>
                          <a:rPr lang="ar-SA"/>
                          <m:t>=</m:t>
                        </m:r>
                        <m:r>
                          <a:rPr lang="ar-SA"/>
                          <m:t>0</m:t>
                        </m:r>
                      </m:sub>
                    </m:sSub>
                    <m:limUpp>
                      <m:limUppPr>
                        <m:ctrlPr>
                          <a:rPr lang="ar-SA" i="1"/>
                        </m:ctrlPr>
                      </m:limUppPr>
                      <m:e>
                        <m:r>
                          <a:rPr lang="ar-SA" i="1"/>
                          <m:t>𝑥</m:t>
                        </m:r>
                      </m:e>
                      <m:lim>
                        <m:r>
                          <a:rPr lang="fr-FR" b="0" i="0" smtClean="0">
                            <a:latin typeface="Cambria Math" panose="02040503050406030204" pitchFamily="18" charset="0"/>
                          </a:rPr>
                          <m:t>_</m:t>
                        </m:r>
                      </m:lim>
                    </m:limUpp>
                    <m:d>
                      <m:dPr>
                        <m:ctrlPr>
                          <a:rPr lang="ar-SA" i="1"/>
                        </m:ctrlPr>
                      </m:dPr>
                      <m:e>
                        <m:r>
                          <a:rPr lang="ar-SA" i="1"/>
                          <m:t>𝑥</m:t>
                        </m:r>
                        <m:r>
                          <a:rPr lang="ar-SA"/>
                          <m:t>+</m:t>
                        </m:r>
                        <m:r>
                          <a:rPr lang="ar-SA" i="1"/>
                          <m:t>𝜖</m:t>
                        </m:r>
                        <m:r>
                          <a:rPr lang="ar-SA" i="1"/>
                          <m:t>𝑣</m:t>
                        </m:r>
                      </m:e>
                    </m:d>
                  </m:oMath>
                </a14:m>
                <a:endParaRPr lang="ar-SA" dirty="0"/>
              </a:p>
              <a:p>
                <a:endParaRPr lang="ar-SA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0946C0-4258-C7D5-9CF8-C1C6670109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970314"/>
                <a:ext cx="8229600" cy="4702629"/>
              </a:xfrm>
              <a:blipFill>
                <a:blip r:embed="rId2"/>
                <a:stretch>
                  <a:fillRect l="-1481" t="-3368" r="-140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4979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5BA48-A3CE-89B1-9F33-0225DC47F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Exemple  : multiplication scalaire</a:t>
            </a:r>
            <a:br>
              <a:rPr lang="fr-FR" b="1" dirty="0"/>
            </a:br>
            <a:endParaRPr lang="fr-F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239F5B-E8CA-7A39-53D4-61EC0AC35A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fr-FR" dirty="0"/>
                  <a:t>Pour z = x * y</a:t>
                </a:r>
              </a:p>
              <a:p>
                <a:r>
                  <a:rPr lang="fr-FR" dirty="0"/>
                  <a:t> </a:t>
                </a:r>
                <a:r>
                  <a:rPr lang="fr-FR" dirty="0" err="1"/>
                  <a:t>backward</a:t>
                </a:r>
                <a:r>
                  <a:rPr lang="fr-FR" dirty="0"/>
                  <a:t> classique :</a:t>
                </a:r>
              </a:p>
              <a:p>
                <a14:m>
                  <m:oMath xmlns:m="http://schemas.openxmlformats.org/officeDocument/2006/math">
                    <m:limUpp>
                      <m:limUppPr>
                        <m:ctrlPr>
                          <a:rPr lang="ar-SA"/>
                        </m:ctrlPr>
                      </m:limUppPr>
                      <m:e>
                        <m:r>
                          <a:rPr lang="ar-SA" i="1"/>
                          <m:t>𝑥</m:t>
                        </m:r>
                      </m:e>
                      <m:lim>
                        <m:r>
                          <a:rPr lang="fr-FR" b="0" i="0" smtClean="0">
                            <a:latin typeface="Cambria Math" panose="02040503050406030204" pitchFamily="18" charset="0"/>
                          </a:rPr>
                          <m:t>_</m:t>
                        </m:r>
                      </m:lim>
                    </m:limUpp>
                    <m:r>
                      <a:rPr lang="ar-SA"/>
                      <m:t>+=</m:t>
                    </m:r>
                    <m:limUpp>
                      <m:limUppPr>
                        <m:ctrlPr>
                          <a:rPr lang="ar-SA" i="1"/>
                        </m:ctrlPr>
                      </m:limUppPr>
                      <m:e>
                        <m:r>
                          <a:rPr lang="ar-SA" i="1"/>
                          <m:t>𝑧</m:t>
                        </m:r>
                      </m:e>
                      <m:lim>
                        <m:r>
                          <a:rPr lang="fr-FR" b="0" i="0" smtClean="0">
                            <a:latin typeface="Cambria Math" panose="02040503050406030204" pitchFamily="18" charset="0"/>
                          </a:rPr>
                          <m:t>_</m:t>
                        </m:r>
                      </m:lim>
                    </m:limUpp>
                    <m:r>
                      <a:rPr lang="ar-SA"/>
                      <m:t>∗</m:t>
                    </m:r>
                    <m:r>
                      <a:rPr lang="ar-SA" i="1"/>
                      <m:t>𝑦</m:t>
                    </m:r>
                  </m:oMath>
                </a14:m>
                <a:endParaRPr lang="ar-SA" dirty="0"/>
              </a:p>
              <a:p>
                <a14:m>
                  <m:oMath xmlns:m="http://schemas.openxmlformats.org/officeDocument/2006/math">
                    <m:limUpp>
                      <m:limUppPr>
                        <m:ctrlPr>
                          <a:rPr lang="ar-SA"/>
                        </m:ctrlPr>
                      </m:limUppPr>
                      <m:e>
                        <m:r>
                          <a:rPr lang="ar-SA" i="1"/>
                          <m:t>𝑦</m:t>
                        </m:r>
                      </m:e>
                      <m:lim>
                        <m:r>
                          <a:rPr lang="fr-FR" b="0" i="0" smtClean="0">
                            <a:latin typeface="Cambria Math" panose="02040503050406030204" pitchFamily="18" charset="0"/>
                          </a:rPr>
                          <m:t>_</m:t>
                        </m:r>
                      </m:lim>
                    </m:limUpp>
                    <m:r>
                      <a:rPr lang="ar-SA"/>
                      <m:t>+=</m:t>
                    </m:r>
                    <m:limUpp>
                      <m:limUppPr>
                        <m:ctrlPr>
                          <a:rPr lang="ar-SA" i="1"/>
                        </m:ctrlPr>
                      </m:limUppPr>
                      <m:e>
                        <m:r>
                          <a:rPr lang="ar-SA" i="1"/>
                          <m:t>𝑧</m:t>
                        </m:r>
                      </m:e>
                      <m:lim>
                        <m:r>
                          <a:rPr lang="fr-FR" b="0" i="0" smtClean="0">
                            <a:latin typeface="Cambria Math" panose="02040503050406030204" pitchFamily="18" charset="0"/>
                          </a:rPr>
                          <m:t>_</m:t>
                        </m:r>
                      </m:lim>
                    </m:limUpp>
                    <m:r>
                      <a:rPr lang="ar-SA"/>
                      <m:t>∗</m:t>
                    </m:r>
                    <m:r>
                      <a:rPr lang="ar-SA" i="1"/>
                      <m:t>𝑥</m:t>
                    </m:r>
                  </m:oMath>
                </a14:m>
                <a:endParaRPr lang="ar-SA" dirty="0"/>
              </a:p>
              <a:p>
                <a:r>
                  <a:rPr lang="fr-FR" dirty="0"/>
                  <a:t>Maintenant on dérive ça :</a:t>
                </a:r>
              </a:p>
              <a:p>
                <a:r>
                  <a:rPr lang="fr-FR" dirty="0"/>
                  <a:t>Pour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ar-SA"/>
                        </m:ctrlPr>
                      </m:limUppPr>
                      <m:e>
                        <m:r>
                          <a:rPr lang="ar-SA" i="1"/>
                          <m:t>𝑥</m:t>
                        </m:r>
                      </m:e>
                      <m:lim>
                        <m:r>
                          <a:rPr lang="fr-FR" b="0" i="0" smtClean="0">
                            <a:latin typeface="Cambria Math" panose="02040503050406030204" pitchFamily="18" charset="0"/>
                          </a:rPr>
                          <m:t>_</m:t>
                        </m:r>
                      </m:lim>
                    </m:limUpp>
                  </m:oMath>
                </a14:m>
                <a:r>
                  <a:rPr lang="ar-SA" dirty="0"/>
                  <a:t>: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ar-SA"/>
                        </m:ctrlPr>
                      </m:accPr>
                      <m:e>
                        <m:limUpp>
                          <m:limUppPr>
                            <m:ctrlPr>
                              <a:rPr lang="ar-SA"/>
                            </m:ctrlPr>
                          </m:limUppPr>
                          <m:e>
                            <m:r>
                              <a:rPr lang="ar-SA" i="1"/>
                              <m:t>𝑥</m:t>
                            </m:r>
                          </m:e>
                          <m:lim>
                            <m:r>
                              <a:rPr lang="fr-FR" b="0" i="0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</m:lim>
                        </m:limUpp>
                      </m:e>
                    </m:acc>
                    <m:r>
                      <a:rPr lang="ar-SA"/>
                      <m:t>=</m:t>
                    </m:r>
                    <m:acc>
                      <m:accPr>
                        <m:chr m:val="̇"/>
                        <m:ctrlPr>
                          <a:rPr lang="ar-SA" i="1"/>
                        </m:ctrlPr>
                      </m:accPr>
                      <m:e>
                        <m:limUpp>
                          <m:limUppPr>
                            <m:ctrlPr>
                              <a:rPr lang="ar-SA" i="1"/>
                            </m:ctrlPr>
                          </m:limUppPr>
                          <m:e>
                            <m:r>
                              <a:rPr lang="ar-SA" i="1"/>
                              <m:t>𝑧</m:t>
                            </m:r>
                          </m:e>
                          <m:lim>
                            <m:r>
                              <a:rPr lang="fr-FR" b="0" i="0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</m:lim>
                        </m:limUpp>
                      </m:e>
                    </m:acc>
                    <m:r>
                      <a:rPr lang="ar-SA"/>
                      <m:t>∗</m:t>
                    </m:r>
                    <m:r>
                      <a:rPr lang="ar-SA" i="1"/>
                      <m:t>𝑦</m:t>
                    </m:r>
                    <m:r>
                      <a:rPr lang="ar-SA"/>
                      <m:t>+</m:t>
                    </m:r>
                    <m:limUpp>
                      <m:limUppPr>
                        <m:ctrlPr>
                          <a:rPr lang="ar-SA" i="1"/>
                        </m:ctrlPr>
                      </m:limUppPr>
                      <m:e>
                        <m:r>
                          <a:rPr lang="ar-SA" i="1"/>
                          <m:t>𝑧</m:t>
                        </m:r>
                      </m:e>
                      <m:lim>
                        <m:r>
                          <a:rPr lang="fr-FR" b="0" i="0" smtClean="0">
                            <a:latin typeface="Cambria Math" panose="02040503050406030204" pitchFamily="18" charset="0"/>
                          </a:rPr>
                          <m:t>_</m:t>
                        </m:r>
                      </m:lim>
                    </m:limUpp>
                    <m:r>
                      <a:rPr lang="ar-SA"/>
                      <m:t>∗</m:t>
                    </m:r>
                    <m:acc>
                      <m:accPr>
                        <m:chr m:val="̇"/>
                        <m:ctrlPr>
                          <a:rPr lang="ar-SA" i="1"/>
                        </m:ctrlPr>
                      </m:accPr>
                      <m:e>
                        <m:r>
                          <a:rPr lang="ar-SA" i="1"/>
                          <m:t>𝑦</m:t>
                        </m:r>
                      </m:e>
                    </m:acc>
                  </m:oMath>
                </a14:m>
                <a:endParaRPr lang="ar-SA" dirty="0"/>
              </a:p>
              <a:p>
                <a:r>
                  <a:rPr lang="fr-FR" dirty="0"/>
                  <a:t>Pour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ar-SA"/>
                        </m:ctrlPr>
                      </m:limUppPr>
                      <m:e>
                        <m:r>
                          <a:rPr lang="ar-SA" i="1"/>
                          <m:t>𝑦</m:t>
                        </m:r>
                      </m:e>
                      <m:lim>
                        <m:r>
                          <a:rPr lang="fr-FR" b="0" i="0" smtClean="0">
                            <a:latin typeface="Cambria Math" panose="02040503050406030204" pitchFamily="18" charset="0"/>
                          </a:rPr>
                          <m:t>_</m:t>
                        </m:r>
                      </m:lim>
                    </m:limUpp>
                  </m:oMath>
                </a14:m>
                <a:r>
                  <a:rPr lang="ar-SA" dirty="0"/>
                  <a:t>: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ar-SA"/>
                        </m:ctrlPr>
                      </m:accPr>
                      <m:e>
                        <m:limUpp>
                          <m:limUppPr>
                            <m:ctrlPr>
                              <a:rPr lang="ar-SA"/>
                            </m:ctrlPr>
                          </m:limUppPr>
                          <m:e>
                            <m:r>
                              <a:rPr lang="ar-SA" i="1"/>
                              <m:t>𝑦</m:t>
                            </m:r>
                          </m:e>
                          <m:lim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</m:lim>
                        </m:limUpp>
                      </m:e>
                    </m:acc>
                    <m:r>
                      <a:rPr lang="ar-SA"/>
                      <m:t>=</m:t>
                    </m:r>
                    <m:acc>
                      <m:accPr>
                        <m:chr m:val="̇"/>
                        <m:ctrlPr>
                          <a:rPr lang="ar-SA" i="1"/>
                        </m:ctrlPr>
                      </m:accPr>
                      <m:e>
                        <m:limUpp>
                          <m:limUppPr>
                            <m:ctrlPr>
                              <a:rPr lang="ar-SA" i="1"/>
                            </m:ctrlPr>
                          </m:limUppPr>
                          <m:e>
                            <m:r>
                              <a:rPr lang="ar-SA" i="1"/>
                              <m:t>𝑧</m:t>
                            </m:r>
                          </m:e>
                          <m:lim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</m:lim>
                        </m:limUpp>
                      </m:e>
                    </m:acc>
                    <m:r>
                      <a:rPr lang="ar-SA"/>
                      <m:t>∗</m:t>
                    </m:r>
                    <m:r>
                      <a:rPr lang="ar-SA" i="1"/>
                      <m:t>𝑥</m:t>
                    </m:r>
                    <m:r>
                      <a:rPr lang="ar-SA"/>
                      <m:t>+</m:t>
                    </m:r>
                    <m:limUpp>
                      <m:limUppPr>
                        <m:ctrlPr>
                          <a:rPr lang="ar-SA" i="1"/>
                        </m:ctrlPr>
                      </m:limUppPr>
                      <m:e>
                        <m:r>
                          <a:rPr lang="ar-SA" i="1"/>
                          <m:t>𝑧</m:t>
                        </m:r>
                      </m:e>
                      <m:lim>
                        <m:r>
                          <a:rPr lang="fr-FR" b="0" i="0" smtClean="0">
                            <a:latin typeface="Cambria Math" panose="02040503050406030204" pitchFamily="18" charset="0"/>
                          </a:rPr>
                          <m:t>_</m:t>
                        </m:r>
                      </m:lim>
                    </m:limUpp>
                    <m:r>
                      <a:rPr lang="ar-SA"/>
                      <m:t>∗</m:t>
                    </m:r>
                    <m:acc>
                      <m:accPr>
                        <m:chr m:val="̇"/>
                        <m:ctrlPr>
                          <a:rPr lang="ar-SA" i="1"/>
                        </m:ctrlPr>
                      </m:accPr>
                      <m:e>
                        <m:r>
                          <a:rPr lang="ar-SA" i="1"/>
                          <m:t>𝑥</m:t>
                        </m:r>
                      </m:e>
                    </m:acc>
                  </m:oMath>
                </a14:m>
                <a:endParaRPr lang="ar-SA" dirty="0"/>
              </a:p>
              <a:p>
                <a:endParaRPr lang="fr-FR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239F5B-E8CA-7A39-53D4-61EC0AC35A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59" t="-21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4913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AAC08-7A26-8670-8AD0-EC43B138E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Tests &amp; Benchmarks – Part 2</a:t>
            </a:r>
            <a:endParaRPr lang="fr-FR" dirty="0"/>
          </a:p>
        </p:txBody>
      </p:sp>
      <p:pic>
        <p:nvPicPr>
          <p:cNvPr id="4" name="table">
            <a:extLst>
              <a:ext uri="{FF2B5EF4-FFF2-40B4-BE49-F238E27FC236}">
                <a16:creationId xmlns:a16="http://schemas.microsoft.com/office/drawing/2014/main" id="{D277B77A-4268-9318-976D-D01F8E57B5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085" y="2155372"/>
            <a:ext cx="8806543" cy="385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0329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4D597-D58C-7AEB-7B68-1CD3FC67E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Comparaison d’entraînement : GD vs Newton-CG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26475-7D4F-EB16-611F-E48480FF5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Même réseau, mêmes données</a:t>
            </a:r>
            <a:r>
              <a:rPr lang="fr-FR" dirty="0"/>
              <a:t> pour les deux méthodes</a:t>
            </a:r>
          </a:p>
          <a:p>
            <a:r>
              <a:rPr lang="fr-FR" dirty="0"/>
              <a:t>Gradient </a:t>
            </a:r>
            <a:r>
              <a:rPr lang="fr-FR" dirty="0" err="1"/>
              <a:t>Descent</a:t>
            </a:r>
            <a:r>
              <a:rPr lang="fr-FR" dirty="0"/>
              <a:t>: À chaque itération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                  </a:t>
            </a:r>
            <a:r>
              <a:rPr lang="pl-PL" dirty="0"/>
              <a:t>w←w−η∇f(w)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 Gradient calculé avec </a:t>
            </a:r>
            <a:r>
              <a:rPr lang="fr-FR" dirty="0" err="1"/>
              <a:t>Forward.gradient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078251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D619A-F3CB-CCA2-9378-E33E55D2E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Conjugate</a:t>
            </a:r>
            <a:r>
              <a:rPr lang="fr-FR" dirty="0"/>
              <a:t> Gradient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02580-8EFB-017D-E386-CEDD1603ED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983162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fr-FR" dirty="0"/>
                  <a:t>on cherche une direction </a:t>
                </a:r>
                <a:r>
                  <a:rPr lang="fr-FR" b="1" dirty="0"/>
                  <a:t>p</a:t>
                </a:r>
                <a:r>
                  <a:rPr lang="fr-FR" dirty="0"/>
                  <a:t> telle que :</a:t>
                </a:r>
              </a:p>
              <a:p>
                <a:r>
                  <a:rPr lang="fr-FR" dirty="0"/>
                  <a:t>             </a:t>
                </a:r>
                <a14:m>
                  <m:oMath xmlns:m="http://schemas.openxmlformats.org/officeDocument/2006/math">
                    <m:r>
                      <a:rPr lang="fr-FR" i="1"/>
                      <m:t>𝐻𝑝</m:t>
                    </m:r>
                    <m:r>
                      <a:rPr lang="fr-FR"/>
                      <m:t>=−</m:t>
                    </m:r>
                    <m:r>
                      <a:rPr lang="fr-FR" i="1"/>
                      <m:t>𝑔</m:t>
                    </m:r>
                  </m:oMath>
                </a14:m>
                <a:endParaRPr lang="fr-FR" dirty="0"/>
              </a:p>
              <a:p>
                <a:r>
                  <a:rPr lang="fr-FR" dirty="0"/>
                  <a:t>où :</a:t>
                </a:r>
              </a:p>
              <a:p>
                <a:r>
                  <a:rPr lang="fr-FR" b="1" dirty="0"/>
                  <a:t>g = ∇f(w)</a:t>
                </a:r>
                <a:r>
                  <a:rPr lang="fr-FR" dirty="0"/>
                  <a:t> → gradient, calculé avec </a:t>
                </a:r>
                <a:r>
                  <a:rPr lang="fr-FR" b="1" dirty="0" err="1"/>
                  <a:t>VectReverse.gradient</a:t>
                </a:r>
                <a:endParaRPr lang="fr-FR" dirty="0"/>
              </a:p>
              <a:p>
                <a:r>
                  <a:rPr lang="fr-FR" b="1" dirty="0"/>
                  <a:t>H=</a:t>
                </a:r>
                <a:r>
                  <a:rPr lang="fr-FR" b="1" dirty="0" err="1"/>
                  <a:t>H·v</a:t>
                </a:r>
                <a:r>
                  <a:rPr lang="fr-FR" dirty="0"/>
                  <a:t> → produit Hessien–vecteur, calculé avec </a:t>
                </a:r>
                <a:r>
                  <a:rPr lang="fr-FR" b="1" dirty="0" err="1"/>
                  <a:t>VectReverse.hvp</a:t>
                </a:r>
                <a:endParaRPr lang="fr-FR" dirty="0"/>
              </a:p>
              <a:p>
                <a:r>
                  <a:rPr lang="fr-FR" b="1" dirty="0"/>
                  <a:t>p</a:t>
                </a:r>
                <a:r>
                  <a:rPr lang="fr-FR" dirty="0"/>
                  <a:t> → direction optimale pour mettre à jour les paramètres</a:t>
                </a:r>
              </a:p>
              <a:p>
                <a:r>
                  <a:rPr lang="fr-FR" dirty="0" err="1"/>
                  <a:t>W_new</a:t>
                </a:r>
                <a:r>
                  <a:rPr lang="fr-FR" dirty="0"/>
                  <a:t>​=w+</a:t>
                </a:r>
                <a:r>
                  <a:rPr lang="el-GR" dirty="0"/>
                  <a:t>α</a:t>
                </a:r>
                <a:r>
                  <a:rPr lang="fr-FR" dirty="0"/>
                  <a:t>p</a:t>
                </a:r>
              </a:p>
              <a:p>
                <a:endParaRPr lang="fr-FR" dirty="0"/>
              </a:p>
              <a:p>
                <a:endParaRPr lang="fr-FR" dirty="0"/>
              </a:p>
              <a:p>
                <a:endParaRPr lang="fr-FR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02580-8EFB-017D-E386-CEDD1603ED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983162"/>
              </a:xfrm>
              <a:blipFill>
                <a:blip r:embed="rId2"/>
                <a:stretch>
                  <a:fillRect l="-1481" t="-244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0382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FA24C-6D27-E8F8-81DE-E093EF2DB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Tableau – Entraînement régression (n=64, d=16, h=16, 5 itérations)</a:t>
            </a:r>
          </a:p>
        </p:txBody>
      </p:sp>
      <p:pic>
        <p:nvPicPr>
          <p:cNvPr id="4" name="table">
            <a:extLst>
              <a:ext uri="{FF2B5EF4-FFF2-40B4-BE49-F238E27FC236}">
                <a16:creationId xmlns:a16="http://schemas.microsoft.com/office/drawing/2014/main" id="{6B8D6B07-07BF-E013-BE19-30D088A77D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1114" y="2373086"/>
            <a:ext cx="7119257" cy="379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4466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3010B-2772-3C68-403D-D015E6B75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Tableau – Entraînement classification (n=64, d=16, h=16, 5 itérations)</a:t>
            </a:r>
          </a:p>
        </p:txBody>
      </p:sp>
      <p:pic>
        <p:nvPicPr>
          <p:cNvPr id="5" name="Content Placeholder 4" descr="A blue and white rectangular box with black text">
            <a:extLst>
              <a:ext uri="{FF2B5EF4-FFF2-40B4-BE49-F238E27FC236}">
                <a16:creationId xmlns:a16="http://schemas.microsoft.com/office/drawing/2014/main" id="{D99C388E-922D-4652-166F-E546EBE4EE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199" y="2035630"/>
            <a:ext cx="8044543" cy="3820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67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739</Words>
  <Application>Microsoft Office PowerPoint</Application>
  <PresentationFormat>On-screen Show (4:3)</PresentationFormat>
  <Paragraphs>105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Calibri</vt:lpstr>
      <vt:lpstr>Cambria Math</vt:lpstr>
      <vt:lpstr>Office Theme</vt:lpstr>
      <vt:lpstr>Part 1 – Différenciation Automatique Vectorisée</vt:lpstr>
      <vt:lpstr>Objectif de la Partie 1</vt:lpstr>
      <vt:lpstr>Pourquoi une AD vectorisée ?</vt:lpstr>
      <vt:lpstr>Structure fondamentale : VectNode</vt:lpstr>
      <vt:lpstr>Broadcasting vectorisé</vt:lpstr>
      <vt:lpstr>Backward Pass vectorisé</vt:lpstr>
      <vt:lpstr>Exemple :</vt:lpstr>
      <vt:lpstr>Tests &amp; Benchmarks – Part 1</vt:lpstr>
      <vt:lpstr>Resultats</vt:lpstr>
      <vt:lpstr>Part 2 – Hessian &amp; Forward-over-Reverse AD</vt:lpstr>
      <vt:lpstr>Approche Forward-over-Reverse </vt:lpstr>
      <vt:lpstr>Propagation des tangentes de valeur dans le graphe</vt:lpstr>
      <vt:lpstr>Etape 3 :Reverse sur la linéarisation : calcul de H * v (le produit hessien vecteur) </vt:lpstr>
      <vt:lpstr>Exemple  : multiplication scalaire </vt:lpstr>
      <vt:lpstr>Tests &amp; Benchmarks – Part 2</vt:lpstr>
      <vt:lpstr>Comparaison d’entraînement : GD vs Newton-CG</vt:lpstr>
      <vt:lpstr>Conjugate Gradient</vt:lpstr>
      <vt:lpstr>Tableau – Entraînement régression (n=64, d=16, h=16, 5 itérations)</vt:lpstr>
      <vt:lpstr>Tableau – Entraînement classification (n=64, d=16, h=16, 5 itérations)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Yassine Zeamari</cp:lastModifiedBy>
  <cp:revision>2</cp:revision>
  <dcterms:created xsi:type="dcterms:W3CDTF">2013-01-27T09:14:16Z</dcterms:created>
  <dcterms:modified xsi:type="dcterms:W3CDTF">2025-12-07T19:28:04Z</dcterms:modified>
  <cp:category/>
</cp:coreProperties>
</file>